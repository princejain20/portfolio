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bold r:id="rId8"/>
    </p:embeddedFont>
    <p:embeddedFont>
      <p:font typeface="Arial Italics" panose="020B0604020202020204" charset="0"/>
      <p:regular r:id="rId9"/>
    </p:embeddedFont>
    <p:embeddedFont>
      <p:font typeface="Calibri (MS) Bold" panose="020B0604020202020204" charset="0"/>
      <p:regular r:id="rId10"/>
    </p:embeddedFont>
    <p:embeddedFont>
      <p:font typeface="Garamond Bold" panose="02020804030307010803" pitchFamily="18" charset="0"/>
      <p:bold r:id="rId11"/>
    </p:embeddedFont>
    <p:embeddedFont>
      <p:font typeface="Times New Roman Bold" panose="02020803070505020304" pitchFamily="18" charset="0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3887" y="2015689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7" y="0"/>
                </a:lnTo>
                <a:lnTo>
                  <a:pt x="6957907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614548" y="3423539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644144" y="348741"/>
            <a:ext cx="10970403" cy="222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7"/>
              </a:lnSpc>
            </a:pPr>
            <a:endParaRPr/>
          </a:p>
          <a:p>
            <a:pPr algn="ctr">
              <a:lnSpc>
                <a:spcPts val="5007"/>
              </a:lnSpc>
            </a:pPr>
            <a:r>
              <a:rPr lang="en-US" sz="417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3045237" cy="2613843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8527" y="1108600"/>
            <a:ext cx="11310141" cy="81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3"/>
              </a:lnSpc>
            </a:pPr>
            <a:endParaRPr dirty="0"/>
          </a:p>
          <a:p>
            <a:pPr marL="579118" lvl="1" indent="-289559" algn="just">
              <a:lnSpc>
                <a:spcPts val="76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26034</a:t>
            </a:r>
          </a:p>
          <a:p>
            <a:pPr marL="579118" lvl="1" indent="-289559" algn="just">
              <a:lnSpc>
                <a:spcPts val="76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System to check compliance of Packaged Commodities under Legal Metrology(Packaged Commodities) Rules, 2011 by scanning products, images and labels.</a:t>
            </a:r>
          </a:p>
          <a:p>
            <a:pPr marL="579118" lvl="1" indent="-289559" algn="just">
              <a:lnSpc>
                <a:spcPts val="76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  <a:r>
              <a:rPr lang="en-US" sz="3199" i="1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Agriculture, </a:t>
            </a:r>
            <a:r>
              <a:rPr lang="en-US" sz="31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FoodTech</a:t>
            </a: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Rural Development</a:t>
            </a:r>
          </a:p>
          <a:p>
            <a:pPr marL="579118" lvl="1" indent="-289559" algn="just">
              <a:lnSpc>
                <a:spcPts val="76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579118" lvl="1" indent="-289559" algn="just">
              <a:lnSpc>
                <a:spcPts val="76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 </a:t>
            </a:r>
            <a:r>
              <a:rPr lang="en-US" sz="31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AlgNite</a:t>
            </a:r>
            <a:endParaRPr lang="en-US" sz="31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4525"/>
            <a:ext cx="18288000" cy="816554"/>
            <a:chOff x="0" y="0"/>
            <a:chExt cx="24384000" cy="10887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88739"/>
            </a:xfrm>
            <a:custGeom>
              <a:avLst/>
              <a:gdLst/>
              <a:ahLst/>
              <a:cxnLst/>
              <a:rect l="l" t="t" r="r" b="b"/>
              <a:pathLst>
                <a:path w="24384000" h="1088739">
                  <a:moveTo>
                    <a:pt x="0" y="0"/>
                  </a:moveTo>
                  <a:lnTo>
                    <a:pt x="24384000" y="0"/>
                  </a:lnTo>
                  <a:lnTo>
                    <a:pt x="24384000" y="1088739"/>
                  </a:lnTo>
                  <a:lnTo>
                    <a:pt x="0" y="108873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8475" y="-483952"/>
            <a:ext cx="16459200" cy="1901168"/>
            <a:chOff x="0" y="0"/>
            <a:chExt cx="21945600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34890"/>
            </a:xfrm>
            <a:custGeom>
              <a:avLst/>
              <a:gdLst/>
              <a:ahLst/>
              <a:cxnLst/>
              <a:rect l="l" t="t" r="r" b="b"/>
              <a:pathLst>
                <a:path w="21945600" h="253489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599" b="-1137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SmartMet AI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8475" y="180784"/>
            <a:ext cx="1896453" cy="123643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AlgNite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43342"/>
              </p:ext>
            </p:extLst>
          </p:nvPr>
        </p:nvGraphicFramePr>
        <p:xfrm>
          <a:off x="194169" y="1495903"/>
          <a:ext cx="9841484" cy="7860056"/>
        </p:xfrm>
        <a:graphic>
          <a:graphicData uri="http://schemas.openxmlformats.org/drawingml/2006/table">
            <a:tbl>
              <a:tblPr/>
              <a:tblGrid>
                <a:gridCol w="9841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60056"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Freeform 16"/>
          <p:cNvSpPr/>
          <p:nvPr/>
        </p:nvSpPr>
        <p:spPr>
          <a:xfrm>
            <a:off x="10484832" y="1495903"/>
            <a:ext cx="7041168" cy="8024334"/>
          </a:xfrm>
          <a:custGeom>
            <a:avLst/>
            <a:gdLst/>
            <a:ahLst/>
            <a:cxnLst/>
            <a:rect l="l" t="t" r="r" b="b"/>
            <a:pathLst>
              <a:path w="6237129" h="7583912">
                <a:moveTo>
                  <a:pt x="0" y="0"/>
                </a:moveTo>
                <a:lnTo>
                  <a:pt x="6237130" y="0"/>
                </a:lnTo>
                <a:lnTo>
                  <a:pt x="6237130" y="7583911"/>
                </a:lnTo>
                <a:lnTo>
                  <a:pt x="0" y="7583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7" b="-81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23822" y="1481509"/>
            <a:ext cx="9582178" cy="7518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87"/>
              </a:lnSpc>
              <a:spcBef>
                <a:spcPct val="0"/>
              </a:spcBef>
            </a:pPr>
            <a:r>
              <a:rPr lang="en-US" sz="5156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  <a:r>
              <a:rPr lang="en-US" sz="5156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1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just">
              <a:lnSpc>
                <a:spcPts val="3202"/>
              </a:lnSpc>
              <a:spcBef>
                <a:spcPct val="0"/>
              </a:spcBef>
            </a:pPr>
            <a:r>
              <a:rPr lang="en-US" sz="26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6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computer-assisted inspection platform that automatically extracts, measures, and validates packaged-product labels against Legal Metrology rules, detects violations, generates evidence-backed inspection reports, and maintains a centralized inspection history.</a:t>
            </a:r>
          </a:p>
          <a:p>
            <a:pPr algn="l">
              <a:lnSpc>
                <a:spcPts val="3839"/>
              </a:lnSpc>
            </a:pPr>
            <a:r>
              <a:rPr lang="en-US" sz="3199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 :</a:t>
            </a:r>
          </a:p>
          <a:p>
            <a:pPr marL="533274" lvl="1" indent="-266637" algn="l">
              <a:lnSpc>
                <a:spcPts val="2964"/>
              </a:lnSpc>
              <a:buFont typeface="Arial"/>
              <a:buChar char="•"/>
            </a:pP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Label Scanning - </a:t>
            </a:r>
            <a:r>
              <a:rPr lang="en-US" sz="24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scans product labels using images/camera for inspection</a:t>
            </a:r>
          </a:p>
          <a:p>
            <a:pPr marL="533274" lvl="1" indent="-266637" algn="l">
              <a:lnSpc>
                <a:spcPts val="2964"/>
              </a:lnSpc>
              <a:buFont typeface="Arial"/>
              <a:buChar char="•"/>
            </a:pP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OCR &amp; Declaration Detection - </a:t>
            </a:r>
            <a:r>
              <a:rPr lang="en-US" sz="24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text using OCR and identifies mandatory product declarations.</a:t>
            </a:r>
          </a:p>
          <a:p>
            <a:pPr marL="533274" lvl="1" indent="-266637" algn="l">
              <a:lnSpc>
                <a:spcPts val="2964"/>
              </a:lnSpc>
              <a:buFont typeface="Arial"/>
              <a:buChar char="•"/>
            </a:pP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Compliance Rule Engine -</a:t>
            </a:r>
            <a:r>
              <a:rPr lang="en-US" sz="24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Compares extracted information with applicable BIS/standards compliance rules</a:t>
            </a: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marL="533274" lvl="1" indent="-266637" algn="l">
              <a:lnSpc>
                <a:spcPts val="2964"/>
              </a:lnSpc>
              <a:buFont typeface="Arial"/>
              <a:buChar char="•"/>
            </a:pP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Violation Detection - </a:t>
            </a:r>
            <a:r>
              <a:rPr lang="en-US" sz="24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Detects missing, incorrect, or non-compliant information on the label.</a:t>
            </a:r>
          </a:p>
          <a:p>
            <a:pPr marL="533274" lvl="1" indent="-266637" algn="l">
              <a:lnSpc>
                <a:spcPts val="2964"/>
              </a:lnSpc>
              <a:buFont typeface="Arial"/>
              <a:buChar char="•"/>
            </a:pP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Evidence Generation - </a:t>
            </a:r>
            <a:r>
              <a:rPr lang="en-US" sz="24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 violations on the label and provides supporting evidence for each finding.</a:t>
            </a:r>
          </a:p>
          <a:p>
            <a:pPr marL="533274" lvl="1" indent="-266637" algn="l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4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Inspection History &amp; Dashboard - </a:t>
            </a:r>
            <a:r>
              <a:rPr lang="en-US" sz="24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Stores previous inspections and displays compliance trends, violations, and inspection statistics.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91319" y="9598819"/>
            <a:ext cx="429351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dirty="0">
                <a:solidFill>
                  <a:srgbClr val="FBFCF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4525"/>
            <a:ext cx="18288000" cy="752475"/>
            <a:chOff x="0" y="0"/>
            <a:chExt cx="24384000" cy="1003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3300"/>
            </a:xfrm>
            <a:custGeom>
              <a:avLst/>
              <a:gdLst/>
              <a:ahLst/>
              <a:cxnLst/>
              <a:rect l="l" t="t" r="r" b="b"/>
              <a:pathLst>
                <a:path w="24384000" h="1003300">
                  <a:moveTo>
                    <a:pt x="0" y="0"/>
                  </a:moveTo>
                  <a:lnTo>
                    <a:pt x="24384000" y="0"/>
                  </a:lnTo>
                  <a:lnTo>
                    <a:pt x="24384000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8758" y="161262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AlgNite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92116"/>
              </p:ext>
            </p:extLst>
          </p:nvPr>
        </p:nvGraphicFramePr>
        <p:xfrm>
          <a:off x="98395" y="1643063"/>
          <a:ext cx="5921406" cy="7920037"/>
        </p:xfrm>
        <a:graphic>
          <a:graphicData uri="http://schemas.openxmlformats.org/drawingml/2006/table">
            <a:tbl>
              <a:tblPr/>
              <a:tblGrid>
                <a:gridCol w="5921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37">
                <a:tc>
                  <a:txBody>
                    <a:bodyPr/>
                    <a:lstStyle/>
                    <a:p>
                      <a:pPr algn="l">
                        <a:lnSpc>
                          <a:spcPts val="69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Freeform 16"/>
          <p:cNvSpPr/>
          <p:nvPr/>
        </p:nvSpPr>
        <p:spPr>
          <a:xfrm>
            <a:off x="6218559" y="2203836"/>
            <a:ext cx="12069441" cy="6825864"/>
          </a:xfrm>
          <a:custGeom>
            <a:avLst/>
            <a:gdLst/>
            <a:ahLst/>
            <a:cxnLst/>
            <a:rect l="l" t="t" r="r" b="b"/>
            <a:pathLst>
              <a:path w="12396575" h="6825864">
                <a:moveTo>
                  <a:pt x="0" y="0"/>
                </a:moveTo>
                <a:lnTo>
                  <a:pt x="12396575" y="0"/>
                </a:lnTo>
                <a:lnTo>
                  <a:pt x="12396575" y="6825864"/>
                </a:lnTo>
                <a:lnTo>
                  <a:pt x="0" y="6825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8758" y="1614487"/>
            <a:ext cx="5821043" cy="7771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76"/>
              </a:lnSpc>
            </a:pPr>
            <a:r>
              <a:rPr lang="en-US" sz="523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Stack</a:t>
            </a:r>
          </a:p>
          <a:p>
            <a:pPr algn="l">
              <a:lnSpc>
                <a:spcPts val="2004"/>
              </a:lnSpc>
            </a:pPr>
            <a:endParaRPr lang="en-US" sz="5230" b="1" u="sng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 Frontend: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React | Java script | Tailwind CSS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 </a:t>
            </a:r>
            <a:r>
              <a:rPr lang="en-US" sz="2761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Backend:</a:t>
            </a:r>
            <a:r>
              <a:rPr lang="en-US" sz="276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PostgreSQL Edge Functions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OCR / CV: Tessreact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.js | OpenCV.js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/ ML: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TensorFlow | ONNX Running Web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Compliance Engine: 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 | JSON Rule Engine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&amp; storage :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6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endParaRPr lang="en-US" sz="276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Reports &amp; Documents: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6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jsPDF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JWT | ROW Level Security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&amp; auth. :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6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auth | JWT </a:t>
            </a:r>
          </a:p>
          <a:p>
            <a:pPr algn="l">
              <a:lnSpc>
                <a:spcPts val="3314"/>
              </a:lnSpc>
            </a:pP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 &amp; </a:t>
            </a:r>
            <a:r>
              <a:rPr lang="en-US" sz="2761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Devops</a:t>
            </a:r>
            <a:r>
              <a:rPr lang="en-US" sz="276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276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 | GIT | Docker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76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346393" y="9598819"/>
            <a:ext cx="436583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BFCF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95085"/>
            <a:ext cx="1915887" cy="1315278"/>
            <a:chOff x="0" y="-88236"/>
            <a:chExt cx="2554516" cy="1753704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37" y="-88236"/>
              <a:ext cx="2554479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AlgNite</a:t>
              </a:r>
              <a:endParaRPr lang="en-US" sz="27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7345" y="6158865"/>
            <a:ext cx="111442" cy="108585"/>
            <a:chOff x="0" y="0"/>
            <a:chExt cx="148590" cy="144780"/>
          </a:xfrm>
        </p:grpSpPr>
        <p:sp>
          <p:nvSpPr>
            <p:cNvPr id="14" name="Freeform 14"/>
            <p:cNvSpPr/>
            <p:nvPr/>
          </p:nvSpPr>
          <p:spPr>
            <a:xfrm>
              <a:off x="49280" y="49054"/>
              <a:ext cx="47240" cy="41056"/>
            </a:xfrm>
            <a:custGeom>
              <a:avLst/>
              <a:gdLst/>
              <a:ahLst/>
              <a:cxnLst/>
              <a:rect l="l" t="t" r="r" b="b"/>
              <a:pathLst>
                <a:path w="47240" h="41056">
                  <a:moveTo>
                    <a:pt x="47240" y="14446"/>
                  </a:moveTo>
                  <a:cubicBezTo>
                    <a:pt x="25650" y="48736"/>
                    <a:pt x="6600" y="42386"/>
                    <a:pt x="1520" y="36036"/>
                  </a:cubicBezTo>
                  <a:cubicBezTo>
                    <a:pt x="-2290" y="28416"/>
                    <a:pt x="1520" y="809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324600" y="9718841"/>
            <a:ext cx="4678227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 dirty="0">
                <a:solidFill>
                  <a:srgbClr val="FBFCF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0E7BEF-9E23-CEC4-A2AA-99449F80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6666"/>
            <a:ext cx="18288000" cy="8065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7137" y="161262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AlgNite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8512646" y="1524000"/>
            <a:ext cx="9594956" cy="7734300"/>
          </a:xfrm>
          <a:custGeom>
            <a:avLst/>
            <a:gdLst/>
            <a:ahLst/>
            <a:cxnLst/>
            <a:rect l="l" t="t" r="r" b="b"/>
            <a:pathLst>
              <a:path w="9594956" h="7734300">
                <a:moveTo>
                  <a:pt x="0" y="0"/>
                </a:moveTo>
                <a:lnTo>
                  <a:pt x="9594956" y="0"/>
                </a:lnTo>
                <a:lnTo>
                  <a:pt x="9594956" y="7734300"/>
                </a:lnTo>
                <a:lnTo>
                  <a:pt x="0" y="773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1" b="-3140"/>
            </a:stretch>
          </a:blipFill>
        </p:spPr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367137" y="1531290"/>
          <a:ext cx="7881668" cy="7923463"/>
        </p:xfrm>
        <a:graphic>
          <a:graphicData uri="http://schemas.openxmlformats.org/drawingml/2006/table">
            <a:tbl>
              <a:tblPr/>
              <a:tblGrid>
                <a:gridCol w="788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346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517937" y="1495425"/>
            <a:ext cx="7580068" cy="817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1"/>
              </a:lnSpc>
            </a:pPr>
            <a:r>
              <a:rPr lang="en-US" sz="5559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Benefits</a:t>
            </a:r>
          </a:p>
          <a:p>
            <a:pPr algn="just">
              <a:lnSpc>
                <a:spcPts val="3431"/>
              </a:lnSpc>
            </a:pPr>
            <a:r>
              <a:rPr lang="en-US" sz="285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Faster Inspections :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SmartMet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reduces the time spent checking product labels manually and helps officers complete the initial inspection quickly.</a:t>
            </a:r>
          </a:p>
          <a:p>
            <a:pPr algn="just">
              <a:lnSpc>
                <a:spcPts val="3431"/>
              </a:lnSpc>
            </a:pPr>
            <a:r>
              <a:rPr lang="en-US" sz="285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Higher Accuracy :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OCR and Computer Vision help find missing or incorrect declarations, reducing the chances of human mistakes.</a:t>
            </a:r>
          </a:p>
          <a:p>
            <a:pPr algn="just">
              <a:lnSpc>
                <a:spcPts val="3431"/>
              </a:lnSpc>
            </a:pPr>
            <a:r>
              <a:rPr lang="en-US" sz="285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Consistent Rule Checking :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SmartMet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applies Legal Metrology rules in the same way for every inspection, making the process more consistent.</a:t>
            </a:r>
          </a:p>
          <a:p>
            <a:pPr algn="just">
              <a:lnSpc>
                <a:spcPts val="3431"/>
              </a:lnSpc>
            </a:pPr>
            <a:r>
              <a:rPr lang="en-US" sz="285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Evidence-Based Enforcement :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highlights violations and connects them with product images, making the findings easier to verify.</a:t>
            </a:r>
          </a:p>
          <a:p>
            <a:pPr algn="just">
              <a:lnSpc>
                <a:spcPts val="3431"/>
              </a:lnSpc>
            </a:pPr>
            <a:r>
              <a:rPr lang="en-US" sz="285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Inspection Records : </a:t>
            </a:r>
            <a:r>
              <a:rPr lang="en-US" sz="285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product details, violations, photographs, and reports are stored together for easy access and future reference.</a:t>
            </a:r>
          </a:p>
          <a:p>
            <a:pPr algn="l">
              <a:lnSpc>
                <a:spcPts val="2592"/>
              </a:lnSpc>
              <a:spcBef>
                <a:spcPct val="0"/>
              </a:spcBef>
            </a:pPr>
            <a:endParaRPr lang="en-US" sz="285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93573" y="9598819"/>
            <a:ext cx="443814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64" y="9520237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8885" y="299026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AlgNite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8937195" y="1586694"/>
            <a:ext cx="9107736" cy="7523411"/>
          </a:xfrm>
          <a:custGeom>
            <a:avLst/>
            <a:gdLst/>
            <a:ahLst/>
            <a:cxnLst/>
            <a:rect l="l" t="t" r="r" b="b"/>
            <a:pathLst>
              <a:path w="9107736" h="7523411">
                <a:moveTo>
                  <a:pt x="0" y="0"/>
                </a:moveTo>
                <a:lnTo>
                  <a:pt x="9107736" y="0"/>
                </a:lnTo>
                <a:lnTo>
                  <a:pt x="9107736" y="7523411"/>
                </a:lnTo>
                <a:lnTo>
                  <a:pt x="0" y="752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2" r="-1242"/>
            </a:stretch>
          </a:blipFill>
        </p:spPr>
      </p: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568812"/>
              </p:ext>
            </p:extLst>
          </p:nvPr>
        </p:nvGraphicFramePr>
        <p:xfrm>
          <a:off x="381001" y="1643062"/>
          <a:ext cx="8155946" cy="7615238"/>
        </p:xfrm>
        <a:graphic>
          <a:graphicData uri="http://schemas.openxmlformats.org/drawingml/2006/table">
            <a:tbl>
              <a:tblPr/>
              <a:tblGrid>
                <a:gridCol w="815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1523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458885" y="1590675"/>
            <a:ext cx="8078061" cy="783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1"/>
              </a:lnSpc>
            </a:pPr>
            <a:r>
              <a:rPr lang="en-US" sz="5159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Sources</a:t>
            </a:r>
          </a:p>
          <a:p>
            <a:pPr marL="598041" lvl="1" indent="-299020" algn="l">
              <a:lnSpc>
                <a:spcPts val="3323"/>
              </a:lnSpc>
              <a:buFont typeface="Arial"/>
              <a:buChar char="•"/>
            </a:pP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Legal Metrology Act, 2009 — 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 framework for weights, measures and consumer protection.</a:t>
            </a:r>
          </a:p>
          <a:p>
            <a:pPr marL="598041" lvl="1" indent="-299020" algn="l">
              <a:lnSpc>
                <a:spcPts val="3323"/>
              </a:lnSpc>
              <a:buFont typeface="Arial"/>
              <a:buChar char="•"/>
            </a:pP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Legal Metrology (Packaged Commodities) Rules, 2011 — 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Mandatory declarations and packaging compliance requirements.</a:t>
            </a:r>
          </a:p>
          <a:p>
            <a:pPr marL="598041" lvl="1" indent="-299020" algn="l">
              <a:lnSpc>
                <a:spcPts val="3323"/>
              </a:lnSpc>
              <a:buFont typeface="Arial"/>
              <a:buChar char="•"/>
            </a:pP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BIS Standards &amp; Guidelines — 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Standards related to packaging, labelling and product information.</a:t>
            </a:r>
          </a:p>
          <a:p>
            <a:pPr marL="598041" lvl="1" indent="-299020" algn="l">
              <a:lnSpc>
                <a:spcPts val="3323"/>
              </a:lnSpc>
              <a:buFont typeface="Arial"/>
              <a:buChar char="•"/>
            </a:pP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AI/OCR &amp; Computer Vision Research — 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technologies for text extraction, image analysis and automated inspection.</a:t>
            </a:r>
          </a:p>
          <a:p>
            <a:pPr marL="598041" lvl="1" indent="-299020" algn="l">
              <a:lnSpc>
                <a:spcPts val="3323"/>
              </a:lnSpc>
              <a:buFont typeface="Arial"/>
              <a:buChar char="•"/>
            </a:pP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Regulatory-Tech Solutions —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Studied digital inspection approaches to identify gaps and design a practical </a:t>
            </a:r>
            <a:r>
              <a:rPr lang="en-US" sz="276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SmartMet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workflow.</a:t>
            </a:r>
          </a:p>
          <a:p>
            <a:pPr marL="598041" lvl="1" indent="-299020" algn="l">
              <a:lnSpc>
                <a:spcPts val="3323"/>
              </a:lnSpc>
              <a:buFont typeface="Arial"/>
              <a:buChar char="•"/>
            </a:pP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Consumer Affairs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6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—</a:t>
            </a:r>
            <a:r>
              <a:rPr lang="en-US" sz="276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Government procedures, clarifications, notifications and enforcement context.</a:t>
            </a:r>
          </a:p>
          <a:p>
            <a:pPr algn="ctr">
              <a:lnSpc>
                <a:spcPts val="2592"/>
              </a:lnSpc>
              <a:spcBef>
                <a:spcPct val="0"/>
              </a:spcBef>
            </a:pPr>
            <a:endParaRPr lang="en-US" sz="276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747190" y="9721222"/>
            <a:ext cx="557951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533</Words>
  <Application>Microsoft Office PowerPoint</Application>
  <PresentationFormat>Custom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 Italics</vt:lpstr>
      <vt:lpstr>Times New Roman Bold</vt:lpstr>
      <vt:lpstr>Garamond Bold</vt:lpstr>
      <vt:lpstr>Arial</vt:lpstr>
      <vt:lpstr>Times New Roman</vt:lpstr>
      <vt:lpstr>Calibri (MS) Bold</vt:lpstr>
      <vt:lpstr>Arial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Problem Statement Title- Theme- PS Category- Software/Hardware Team ID- Team Name (Registered on portal)</dc:title>
  <dc:creator>Adarsh Bhardwaj</dc:creator>
  <cp:lastModifiedBy>Adarsh Bhardwaj</cp:lastModifiedBy>
  <cp:revision>13</cp:revision>
  <dcterms:created xsi:type="dcterms:W3CDTF">2006-08-16T00:00:00Z</dcterms:created>
  <dcterms:modified xsi:type="dcterms:W3CDTF">2026-09-18T21:06:45Z</dcterms:modified>
  <dc:identifier>DAHU-kjmVfs</dc:identifier>
</cp:coreProperties>
</file>